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Logistic baseline</c:v>
                </c:pt>
                <c:pt idx="1">
                  <c:v>Logistic balanced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0.814</c:v>
                </c:pt>
                <c:pt idx="1">
                  <c:v>0.817</c:v>
                </c:pt>
                <c:pt idx="2">
                  <c:v>0.867</c:v>
                </c:pt>
                <c:pt idx="3">
                  <c:v>0.903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2ABA1"/>
                </a:solidFill>
                <a:latin typeface="Aptos"/>
              </a:defRPr>
            </a:pPr>
            <a:r>
              <a:t>END-TO-END DATA SCIENCE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Predicting credit risk with explainable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1BFC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700" b="1">
                <a:solidFill>
                  <a:srgbClr val="12ABA1"/>
                </a:solidFill>
                <a:latin typeface="Aptos"/>
              </a:defRPr>
            </a:pPr>
            <a:r>
              <a:t>32,581 loans  •  3 model families  •  SHAP explanations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B1BFCD"/>
                </a:solidFill>
                <a:latin typeface="Aptos"/>
              </a:defRPr>
            </a:pPr>
            <a:r>
              <a:t>A decision-support proof of concept, not an automated credit approval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2ABA1"/>
                </a:solidFill>
                <a:latin typeface="Aptos"/>
              </a:defRPr>
            </a:pPr>
            <a:r>
              <a:t>CREDIT RISK | PORTFOLIO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1BF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F8FAFD"/>
                </a:solidFill>
                <a:latin typeface="Aptos"/>
              </a:defRPr>
            </a:pPr>
            <a:r>
              <a:t>XGBoost achieved 0.903 ROC-AUC on the held-out test set.</a:t>
            </a:r>
          </a:p>
          <a:p>
            <a:pPr>
              <a:spcAft>
                <a:spcPts val="1400"/>
              </a:spcAft>
              <a:defRPr sz="2600" b="0">
                <a:solidFill>
                  <a:srgbClr val="F8FAFD"/>
                </a:solidFill>
                <a:latin typeface="Aptos"/>
              </a:defRPr>
            </a:pPr>
            <a:r>
              <a:t>At a 0.40 cutoff: 82% default recall, 53% precision.</a:t>
            </a:r>
          </a:p>
          <a:p>
            <a:pPr>
              <a:spcAft>
                <a:spcPts val="1400"/>
              </a:spcAft>
              <a:defRPr sz="2600" b="0">
                <a:solidFill>
                  <a:srgbClr val="F8FAFD"/>
                </a:solidFill>
                <a:latin typeface="Aptos"/>
              </a:defRPr>
            </a:pPr>
            <a:r>
              <a:t>Trade-off: 255 missed defaults versus 1,033 false alarms.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2ABA1"/>
                </a:solidFill>
                <a:latin typeface="Aptos"/>
              </a:defRPr>
            </a:pPr>
            <a:r>
              <a:t>CREDIT RISK | PORTFOLIO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The lending decision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1BF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False negative → borrower defaults without being flagged.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False positive → borrower is flagged despite not defaulting.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Goal: rank risk accurately, then choose a reviewed, cost-aware operating threshold.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2ABA1"/>
                </a:solidFill>
                <a:latin typeface="Aptos"/>
              </a:defRPr>
            </a:pPr>
            <a:r>
              <a:t>CREDIT RISK | PORTFOLIO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Dataset &amp; class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1BFCD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5" name="Picture 4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674" y="1828800"/>
            <a:ext cx="556337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0312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F8FAFD"/>
                </a:solidFill>
                <a:latin typeface="Aptos"/>
              </a:defRPr>
            </a:pPr>
            <a:r>
              <a:t>32,581 records</a:t>
            </a:r>
          </a:p>
          <a:p>
            <a:pPr>
              <a:spcAft>
                <a:spcPts val="1400"/>
              </a:spcAft>
              <a:defRPr sz="2500" b="0">
                <a:solidFill>
                  <a:srgbClr val="F8FAFD"/>
                </a:solidFill>
                <a:latin typeface="Aptos"/>
              </a:defRPr>
            </a:pPr>
            <a:r>
              <a:t>12 original columns</a:t>
            </a:r>
          </a:p>
          <a:p>
            <a:pPr>
              <a:spcAft>
                <a:spcPts val="1400"/>
              </a:spcAft>
              <a:defRPr sz="2500" b="0">
                <a:solidFill>
                  <a:srgbClr val="F8FAFD"/>
                </a:solidFill>
                <a:latin typeface="Aptos"/>
              </a:defRPr>
            </a:pPr>
            <a:r>
              <a:t>21.8% defaults</a:t>
            </a:r>
          </a:p>
          <a:p>
            <a:pPr>
              <a:spcAft>
                <a:spcPts val="1400"/>
              </a:spcAft>
              <a:defRPr sz="2500" b="0">
                <a:solidFill>
                  <a:srgbClr val="F8FAFD"/>
                </a:solidFill>
                <a:latin typeface="Aptos"/>
              </a:defRPr>
            </a:pPr>
            <a:r>
              <a:t>Stratified 80/20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2ABA1"/>
                </a:solidFill>
                <a:latin typeface="Aptos"/>
              </a:defRPr>
            </a:pPr>
            <a:r>
              <a:t>CREDIT RISK | PORTFOLIO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EDA | housing and borrowing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1BFCD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11264"/>
            <a:ext cx="5486400" cy="3424190"/>
          </a:xfrm>
          <a:prstGeom prst="rect">
            <a:avLst/>
          </a:prstGeom>
        </p:spPr>
      </p:pic>
      <p:pic>
        <p:nvPicPr>
          <p:cNvPr id="6" name="Picture 5" descr="i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05820"/>
            <a:ext cx="5486399" cy="38350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2ABA1"/>
                </a:solidFill>
                <a:latin typeface="Aptos"/>
              </a:defRPr>
            </a:pPr>
            <a:r>
              <a:t>CREDIT RISK | PORTFOLIO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EDA | observed default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1BFC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RENT: 31.6%   •   OWN: 7.5%   •   MORTGAGE: 12.6%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Debt consolidation: 28.6%   •   Medical: 26.7%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Education: 17.2%   •   Venture: 14.8%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Associations in this dataset—not causal explanations.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2ABA1"/>
                </a:solidFill>
                <a:latin typeface="Aptos"/>
              </a:defRPr>
            </a:pPr>
            <a:r>
              <a:t>CREDIT RISK | PORTFOLIO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Feature engineering and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1BFC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Engineered: loan-to-income, income quartiles, employment bands, credit-experience ratio.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Excluded loan grade, interest rate, loan-percent-income and age.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Encoded categories; imputed missing model features; scaled Logistic Regression inputs.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Caveat: quantile bins were computed before splitting—fix in the next pipeline revision.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2ABA1"/>
                </a:solidFill>
                <a:latin typeface="Aptos"/>
              </a:defRPr>
            </a:pPr>
            <a:r>
              <a:t>CREDIT RISK | PORTFOLIO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Model comparison | ROC-AUC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1BFCD"/>
                </a:solidFill>
                <a:latin typeface="Aptos"/>
              </a:defRPr>
            </a:pPr>
            <a:r>
              <a:t>08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1920240"/>
          <a:ext cx="98755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2ABA1"/>
                </a:solidFill>
                <a:latin typeface="Aptos"/>
              </a:defRPr>
            </a:pPr>
            <a:r>
              <a:t>CREDIT RISK | PORTFOLIO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XGBoost | threshold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1BFC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THRESHOLD       PRECISION       RECALL        FALSE NEG.       FALSE POS.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0.50                    0.67                 0.75                 356                   537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0.40                    0.53                 0.82                 255                 1,033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0.30                    0.43                 0.90                 144                 1,669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0.40 is illustrative, not a validated business optimum.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2ABA1"/>
                </a:solidFill>
                <a:latin typeface="Aptos"/>
              </a:defRPr>
            </a:pPr>
            <a:r>
              <a:t>CREDIT RISK | PORTFOLIO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XGBoost | confusion matrix at 0.40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1BFC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                              PREDICT NON-DEFAULT     PREDICT DEFAULT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ACTUAL NON-DEFAULT             4,062                             1,033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ACTUAL DEFAULT                       255                             1,167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Accuracy 0.80   •   Recall 0.82   •   Precision 0.53   •   F1 0.64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2ABA1"/>
                </a:solidFill>
                <a:latin typeface="Aptos"/>
              </a:defRPr>
            </a:pPr>
            <a:r>
              <a:t>CREDIT RISK | PORTFOLIO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Feature importance | model-native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1BFCD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5" name="Picture 4" descr="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856" y="1828800"/>
            <a:ext cx="7607807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2ABA1"/>
                </a:solidFill>
                <a:latin typeface="Aptos"/>
              </a:defRPr>
            </a:pPr>
            <a:r>
              <a:t>CREDIT RISK | PORTFOLIO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SHAP | understanding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1BFCD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5" name="Picture 4" descr="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732" y="1828800"/>
            <a:ext cx="8160054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2ABA1"/>
                </a:solidFill>
                <a:latin typeface="Aptos"/>
              </a:defRPr>
            </a:pPr>
            <a:r>
              <a:t>CREDIT RISK | PORTFOLIO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Recommendations for lenders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1BFC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1. Use model output to prioritize manual credit reviews.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2. Add affordability verification for higher-risk applications.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3. Audit fairness and proxy variables such as housing status.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4. Evaluate realistic costs before fixing an approval threshold.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2ABA1"/>
                </a:solidFill>
                <a:latin typeface="Aptos"/>
              </a:defRPr>
            </a:pPr>
            <a:r>
              <a:t>CREDIT RISK | PORTFOLIO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Limitations &amp; responsible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1BFC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Single random holdout; no out-of-time or external validation.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Pre-split income quantiles and test-set threshold exploration.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Uncalibrated probabilities; missing lending cost assumptions.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No fairness audit, monitoring, or production inference pipeline yet.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2ABA1"/>
                </a:solidFill>
                <a:latin typeface="Aptos"/>
              </a:defRPr>
            </a:pPr>
            <a:r>
              <a:t>CREDIT RISK | PORTFOLIO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F8FAFD"/>
                </a:solidFill>
                <a:latin typeface="Aptos"/>
              </a:defRPr>
            </a:pPr>
            <a:r>
              <a:t>Roadmap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B1BFC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NEXT: Train-fitted preprocessing → validation-based threshold → calibration → fairness review → Streamlit demo.</a:t>
            </a: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</a:p>
          <a:p>
            <a:pPr>
              <a:spcAft>
                <a:spcPts val="1400"/>
              </a:spcAft>
              <a:defRPr sz="2300" b="0">
                <a:solidFill>
                  <a:srgbClr val="F8FAFD"/>
                </a:solidFill>
                <a:latin typeface="Aptos"/>
              </a:defRPr>
            </a:pPr>
            <a:r>
              <a:t>TAKEAWAY: XGBoost ranked default risk best in this experiment, but robust deployment requires more than good test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